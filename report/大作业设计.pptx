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460" r:id="rId3"/>
    <p:sldId id="461" r:id="rId4"/>
    <p:sldId id="462" r:id="rId5"/>
    <p:sldId id="463" r:id="rId6"/>
    <p:sldId id="464" r:id="rId7"/>
    <p:sldId id="466" r:id="rId8"/>
    <p:sldId id="467" r:id="rId9"/>
    <p:sldId id="468" r:id="rId10"/>
    <p:sldId id="469" r:id="rId11"/>
    <p:sldId id="465" r:id="rId1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0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327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C80E8E50-E926-4482-9BA1-408C301348A3}" type="datetime1">
              <a:rPr lang="zh-CN" altLang="en-US"/>
            </a:fld>
            <a:endParaRPr lang="en-US" altLang="zh-CN"/>
          </a:p>
        </p:txBody>
      </p:sp>
      <p:sp>
        <p:nvSpPr>
          <p:cNvPr id="72708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>
              <a:defRPr/>
            </a:pPr>
            <a:r>
              <a:rPr lang="zh-CN" altLang="en-US"/>
              <a:t>第二级</a:t>
            </a:r>
            <a:endParaRPr lang="zh-CN" altLang="en-US"/>
          </a:p>
          <a:p>
            <a:pPr>
              <a:defRPr/>
            </a:pPr>
            <a:r>
              <a:rPr lang="zh-CN" altLang="en-US"/>
              <a:t>第三级</a:t>
            </a:r>
            <a:endParaRPr lang="zh-CN" altLang="en-US"/>
          </a:p>
          <a:p>
            <a:pPr>
              <a:defRPr/>
            </a:pPr>
            <a:r>
              <a:rPr lang="zh-CN" altLang="en-US"/>
              <a:t>第四级</a:t>
            </a:r>
            <a:endParaRPr lang="zh-CN" altLang="en-US"/>
          </a:p>
          <a:p>
            <a:pPr>
              <a:defRPr/>
            </a:pPr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/>
            </a:lvl1pPr>
          </a:lstStyle>
          <a:p>
            <a:pPr>
              <a:defRPr/>
            </a:pPr>
            <a:fld id="{4FC5454D-1248-40CB-A5E1-D54C2CD2D9C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8CE64-E789-4365-9814-81BB3E8911DB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5D4E7D-5BF2-4B5E-AB96-B6928900364E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F0607-F798-406C-BF3F-C3627B6C2567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0C0947-CA36-4474-944C-ED7F4815F8D4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B1F3F-EFCB-4505-963E-7A0E67EDFD2C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CBF7F-5D77-4077-9EF5-DF74FD437ACC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D316D-8BCB-43EB-B01B-13845EA02C98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97F15-76BD-41BA-8B2A-B8363AEE2473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CCC32-FBD8-430F-A2BA-FE2E868D1AC5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5E5DE-D841-4E05-8D09-B482B8800ABA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D877A-9A28-4FF7-827D-182F55B1F72A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8C1C00-B837-41D2-84AC-DF58B35FA38C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36667-C92E-4704-8685-B5B970D57996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FD0C0-0655-4B0A-8D2C-59B3ED36CBC0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6AB4D-135B-4553-8CEB-E752D00093A7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A2F07-91F9-4A7A-8B78-B3E6C5E20185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49708-B7D2-451D-B0A4-9498740C6B52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B5605-7887-4BF9-BC77-4E5BFA7EA6CF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96CE9-92A8-42D9-814C-002DDAFADB9C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927FE-66B4-4DBB-967B-5859F354C3F8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61C51-D309-4FC3-AEBC-586E5DEC375F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E2F562-B307-4345-A308-54BFB75A19D3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A52C0-08F7-47AD-A205-679FE96654CB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03AC4-159E-449B-A0E4-C54D1D5B8863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800" dirty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800" dirty="0"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>
                <a:sym typeface="Calibri" panose="020F0502020204030204" pitchFamily="34" charset="0"/>
              </a:rPr>
              <a:t>单击此处编辑母版标题样式</a:t>
            </a:r>
            <a:endParaRPr lang="zh-CN" altLang="en-US">
              <a:sym typeface="Calibri" panose="020F0502020204030204" pitchFamily="34" charset="0"/>
            </a:endParaRP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>
                <a:sym typeface="Calibri" panose="020F0502020204030204" pitchFamily="34" charset="0"/>
              </a:rPr>
              <a:t>单击此处编辑母版文本样式</a:t>
            </a:r>
            <a:endParaRPr lang="zh-CN" altLang="en-US" dirty="0">
              <a:sym typeface="Calibri" panose="020F0502020204030204" pitchFamily="34" charset="0"/>
            </a:endParaRPr>
          </a:p>
          <a:p>
            <a:pPr lvl="1"/>
            <a:r>
              <a:rPr lang="zh-CN" altLang="en-US" dirty="0">
                <a:sym typeface="Calibri" panose="020F0502020204030204" pitchFamily="34" charset="0"/>
              </a:rPr>
              <a:t>第二级</a:t>
            </a:r>
            <a:endParaRPr lang="zh-CN" altLang="en-US" dirty="0">
              <a:sym typeface="Calibri" panose="020F0502020204030204" pitchFamily="34" charset="0"/>
            </a:endParaRPr>
          </a:p>
          <a:p>
            <a:pPr lvl="2"/>
            <a:r>
              <a:rPr lang="zh-CN" altLang="en-US" dirty="0">
                <a:sym typeface="Calibri" panose="020F0502020204030204" pitchFamily="34" charset="0"/>
              </a:rPr>
              <a:t>第三级</a:t>
            </a:r>
            <a:endParaRPr lang="zh-CN" altLang="en-US" dirty="0">
              <a:sym typeface="Calibri" panose="020F0502020204030204" pitchFamily="34" charset="0"/>
            </a:endParaRPr>
          </a:p>
          <a:p>
            <a:pPr lvl="3"/>
            <a:r>
              <a:rPr lang="zh-CN" altLang="en-US" dirty="0">
                <a:sym typeface="Calibri" panose="020F0502020204030204" pitchFamily="34" charset="0"/>
              </a:rPr>
              <a:t>第四级</a:t>
            </a:r>
            <a:endParaRPr lang="zh-CN" altLang="en-US" dirty="0">
              <a:sym typeface="Calibri" panose="020F0502020204030204" pitchFamily="34" charset="0"/>
            </a:endParaRPr>
          </a:p>
          <a:p>
            <a:pPr lvl="4"/>
            <a:r>
              <a:rPr lang="zh-CN" altLang="en-US" dirty="0">
                <a:sym typeface="Calibri" panose="020F0502020204030204" pitchFamily="34" charset="0"/>
              </a:rPr>
              <a:t>第五级</a:t>
            </a:r>
            <a:endParaRPr lang="zh-CN" altLang="en-US" dirty="0">
              <a:sym typeface="Calibri" panose="020F0502020204030204" pitchFamily="34" charset="0"/>
            </a:endParaRP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4A4F121-1216-4D5D-A5BF-7B2B1A123BC9}" type="datetime1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EF44E4E-6528-4716-87BC-BEB66A7B84C7}" type="slidenum">
              <a:rPr lang="en-US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大作业设计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遥感数据智能处理与分析系统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7745" y="982980"/>
            <a:ext cx="7433310" cy="5477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一、作业目标</a:t>
            </a:r>
            <a:endParaRPr lang="zh-CN" altLang="en-US" sz="2000" b="1"/>
          </a:p>
          <a:p>
            <a:r>
              <a:rPr lang="en-US" altLang="zh-CN" sz="2000"/>
              <a:t>    </a:t>
            </a:r>
            <a:r>
              <a:rPr lang="zh-CN" altLang="en-US" sz="2000"/>
              <a:t>通过实现一个完整的遥感数据智能处理与分析系统，全面掌握以下核心概念：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类的设计与封装（访问控制、构造</a:t>
            </a:r>
            <a:r>
              <a:rPr lang="en-US" altLang="zh-CN" sz="2000"/>
              <a:t>/</a:t>
            </a:r>
            <a:r>
              <a:rPr lang="zh-CN" altLang="en-US" sz="2000"/>
              <a:t>析构）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继承与多态（虚函数、纯虚函数、抽象类）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模板编程（类模板、函数模板）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运算符重载（算术、比较、类型转换、下标）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STL</a:t>
            </a:r>
            <a:r>
              <a:rPr lang="zh-CN" altLang="en-US" sz="2000"/>
              <a:t>容器与算法（</a:t>
            </a:r>
            <a:r>
              <a:rPr lang="en-US" altLang="zh-CN" sz="2000"/>
              <a:t>vector</a:t>
            </a:r>
            <a:r>
              <a:rPr lang="zh-CN" altLang="en-US" sz="2000"/>
              <a:t>、</a:t>
            </a:r>
            <a:r>
              <a:rPr lang="en-US" altLang="zh-CN" sz="2000"/>
              <a:t>map</a:t>
            </a:r>
            <a:r>
              <a:rPr lang="zh-CN" altLang="en-US" sz="2000"/>
              <a:t>、</a:t>
            </a:r>
            <a:r>
              <a:rPr lang="en-US" altLang="zh-CN" sz="2000"/>
              <a:t>set</a:t>
            </a:r>
            <a:r>
              <a:rPr lang="zh-CN" altLang="en-US" sz="2000"/>
              <a:t>、</a:t>
            </a:r>
            <a:r>
              <a:rPr lang="en-US" altLang="zh-CN" sz="2000"/>
              <a:t>algorithm</a:t>
            </a:r>
            <a:r>
              <a:rPr lang="zh-CN" altLang="en-US" sz="2000"/>
              <a:t>）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智能指针与内存管理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异常处理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 b="1"/>
              <a:t>二、系统概述</a:t>
            </a:r>
            <a:endParaRPr lang="zh-CN" altLang="en-US" sz="2000" b="1"/>
          </a:p>
          <a:p>
            <a:r>
              <a:rPr lang="en-US" altLang="zh-CN" sz="2000"/>
              <a:t>    </a:t>
            </a:r>
            <a:r>
              <a:rPr lang="zh-CN" altLang="en-US" sz="2000"/>
              <a:t>设计并实现一个遥感数据智能处理与分析系统，该系统能够：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管理多种类型的遥感数据（影像、矢量、点云）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提供丰富的遥感指数计算功能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支持数据的各种运算和处理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实现数据的统计分析和可视化报告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具备良好的扩展性和可维护性</a:t>
            </a:r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大作业设计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遥感数据智能处理与分析系统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7745" y="982980"/>
            <a:ext cx="74333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三、系统架构设计</a:t>
            </a:r>
            <a:endParaRPr lang="zh-CN" altLang="en-US" sz="2000" b="1"/>
          </a:p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         3.1 </a:t>
            </a:r>
            <a:r>
              <a:rPr lang="zh-CN" altLang="en-US" sz="2000"/>
              <a:t>整体类图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6305" y="743585"/>
            <a:ext cx="4557395" cy="608203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大作业设计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遥感数据智能处理与分析系统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7745" y="982980"/>
            <a:ext cx="743331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三、系统架构设计</a:t>
            </a:r>
            <a:endParaRPr lang="zh-CN" altLang="en-US" sz="2000" b="1"/>
          </a:p>
          <a:p>
            <a:pPr>
              <a:lnSpc>
                <a:spcPct val="150000"/>
              </a:lnSpc>
            </a:pPr>
            <a:r>
              <a:rPr lang="en-US" altLang="zh-CN" sz="2000"/>
              <a:t>3.2 </a:t>
            </a:r>
            <a:r>
              <a:rPr lang="zh-CN" altLang="en-US" sz="2000"/>
              <a:t>模块划分</a:t>
            </a:r>
            <a:endParaRPr lang="zh-CN" altLang="en-US" sz="2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745" y="1878330"/>
            <a:ext cx="7419975" cy="48291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大作业设计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遥感数据智能处理与分析系统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7745" y="982980"/>
            <a:ext cx="7433310" cy="3938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四、详细设计要求</a:t>
            </a:r>
            <a:endParaRPr lang="zh-CN" altLang="en-US" sz="2000" b="1"/>
          </a:p>
          <a:p>
            <a:pPr>
              <a:lnSpc>
                <a:spcPct val="150000"/>
              </a:lnSpc>
            </a:pPr>
            <a:r>
              <a:rPr lang="en-US" altLang="zh-CN" sz="2000"/>
              <a:t>4.1 </a:t>
            </a:r>
            <a:r>
              <a:rPr lang="zh-CN" altLang="en-US" sz="2000"/>
              <a:t>像素模板类</a:t>
            </a:r>
            <a:r>
              <a:rPr lang="en-US" altLang="zh-CN" sz="2000"/>
              <a:t> Pixel&lt;T&gt;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en-US" altLang="zh-CN" sz="2000"/>
              <a:t>4.2 </a:t>
            </a:r>
            <a:r>
              <a:rPr lang="zh-CN" altLang="en-US" sz="2000"/>
              <a:t>数据抽象基类</a:t>
            </a:r>
            <a:r>
              <a:rPr lang="en-US" altLang="zh-CN" sz="2000"/>
              <a:t> DataObject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en-US" altLang="zh-CN" sz="2000"/>
              <a:t>4.3 </a:t>
            </a:r>
            <a:r>
              <a:rPr lang="zh-CN" altLang="en-US" sz="2000"/>
              <a:t>卫星影像类</a:t>
            </a:r>
            <a:r>
              <a:rPr lang="en-US" altLang="zh-CN" sz="2000"/>
              <a:t> SatelliteImage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en-US" altLang="zh-CN" sz="2000"/>
              <a:t>4.4 </a:t>
            </a:r>
            <a:r>
              <a:rPr lang="zh-CN" altLang="en-US" sz="2000"/>
              <a:t>点云数据类</a:t>
            </a:r>
            <a:r>
              <a:rPr lang="en-US" altLang="zh-CN" sz="2000"/>
              <a:t> PointCloudData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en-US" altLang="zh-CN" sz="2000"/>
              <a:t>4.5 </a:t>
            </a:r>
            <a:r>
              <a:rPr lang="zh-CN" altLang="en-US" sz="2000"/>
              <a:t>数据管理器模板类</a:t>
            </a:r>
            <a:r>
              <a:rPr lang="en-US" altLang="zh-CN" sz="2000"/>
              <a:t> DataManager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en-US" altLang="zh-CN" sz="2000"/>
              <a:t>4.6 </a:t>
            </a:r>
            <a:r>
              <a:rPr lang="zh-CN" altLang="en-US" sz="2000"/>
              <a:t>数据导出器（友元类）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2000"/>
              <a:t>4.7 </a:t>
            </a:r>
            <a:r>
              <a:rPr lang="zh-CN" altLang="en-US" sz="2000"/>
              <a:t>遥感算法库（命名空间）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大作业设计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遥感数据智能处理与分析系统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7745" y="982980"/>
            <a:ext cx="743331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五、必须实现的功能清单</a:t>
            </a:r>
            <a:endParaRPr lang="zh-CN" altLang="en-US" sz="2000" b="1"/>
          </a:p>
          <a:p>
            <a:pPr>
              <a:lnSpc>
                <a:spcPct val="150000"/>
              </a:lnSpc>
            </a:pPr>
            <a:r>
              <a:rPr lang="en-US" altLang="zh-CN" sz="2000"/>
              <a:t>5.1 </a:t>
            </a:r>
            <a:r>
              <a:rPr lang="zh-CN" altLang="en-US" sz="2000"/>
              <a:t>核心功能（必做）</a:t>
            </a:r>
            <a:endParaRPr lang="zh-CN" altLang="en-US" sz="2000"/>
          </a:p>
          <a:p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635" y="1917065"/>
            <a:ext cx="5114925" cy="44672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大作业设计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遥感数据智能处理与分析系统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7745" y="982980"/>
            <a:ext cx="7433310" cy="4554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zh-CN" altLang="en-US" sz="2000" b="1"/>
              <a:t>五、必须实现的功能清单</a:t>
            </a:r>
            <a:endParaRPr lang="zh-CN" altLang="en-US" sz="2000" b="1"/>
          </a:p>
          <a:p>
            <a:pPr>
              <a:lnSpc>
                <a:spcPct val="150000"/>
              </a:lnSpc>
            </a:pPr>
            <a:r>
              <a:rPr lang="en-US" altLang="zh-CN" sz="2000"/>
              <a:t>5.2 </a:t>
            </a:r>
            <a:r>
              <a:rPr lang="zh-CN" altLang="en-US" sz="2000"/>
              <a:t>扩展功能（选做，加分项）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/>
              <a:t>智能指针管理（</a:t>
            </a:r>
            <a:r>
              <a:rPr lang="en-US" altLang="zh-CN" sz="2000"/>
              <a:t>shared_ptr/unique_ptr</a:t>
            </a:r>
            <a:r>
              <a:rPr lang="zh-CN" altLang="en-US" sz="2000"/>
              <a:t>）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/>
              <a:t>完善的异常处理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/>
              <a:t>文件序列化（保存</a:t>
            </a:r>
            <a:r>
              <a:rPr lang="en-US" altLang="zh-CN" sz="2000"/>
              <a:t>/</a:t>
            </a:r>
            <a:r>
              <a:rPr lang="zh-CN" altLang="en-US" sz="2000"/>
              <a:t>加载）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/>
              <a:t>多线程并行处理（</a:t>
            </a:r>
            <a:r>
              <a:rPr lang="en-US" altLang="zh-CN" sz="2000"/>
              <a:t>std::thread</a:t>
            </a:r>
            <a:r>
              <a:rPr lang="zh-CN" altLang="en-US" sz="2000"/>
              <a:t>，</a:t>
            </a:r>
            <a:r>
              <a:rPr lang="en-US" altLang="zh-CN" sz="2000"/>
              <a:t>OpenMP</a:t>
            </a:r>
            <a:r>
              <a:rPr lang="zh-CN" altLang="en-US" sz="2000"/>
              <a:t>）</a:t>
            </a:r>
            <a:endParaRPr lang="en-US" altLang="zh-CN" sz="200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/>
              <a:t>图像读写操作库</a:t>
            </a:r>
            <a:r>
              <a:rPr lang="en-US" altLang="zh-CN" sz="2000"/>
              <a:t>OpenCV</a:t>
            </a:r>
            <a:r>
              <a:rPr lang="zh-CN" altLang="en-US" sz="2000"/>
              <a:t>使用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/>
              <a:t>图形界面（</a:t>
            </a:r>
            <a:r>
              <a:rPr lang="en-US" altLang="zh-CN" sz="2000"/>
              <a:t>Qt/QtQuick</a:t>
            </a:r>
            <a:r>
              <a:rPr lang="zh-CN" altLang="en-US" sz="2000"/>
              <a:t>）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/>
              <a:t>用</a:t>
            </a:r>
            <a:r>
              <a:rPr lang="en-US" altLang="zh-CN" sz="2000"/>
              <a:t>CMake</a:t>
            </a:r>
            <a:r>
              <a:rPr lang="zh-CN" altLang="en-US" sz="2000"/>
              <a:t>管理项目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000"/>
              <a:t>用</a:t>
            </a:r>
            <a:r>
              <a:rPr lang="en-US" altLang="zh-CN" sz="2000"/>
              <a:t>Git</a:t>
            </a:r>
            <a:r>
              <a:rPr lang="zh-CN" altLang="en-US" sz="2000"/>
              <a:t>管理项目</a:t>
            </a:r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大作业设计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遥感数据智能处理与分析系统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7745" y="982980"/>
            <a:ext cx="74333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六、提交要求</a:t>
            </a:r>
            <a:endParaRPr lang="zh-CN" altLang="en-US" sz="2000"/>
          </a:p>
          <a:p>
            <a:r>
              <a:rPr lang="en-US" altLang="zh-CN" sz="2000"/>
              <a:t>6.1 </a:t>
            </a:r>
            <a:r>
              <a:rPr lang="zh-CN" altLang="en-US" sz="2000"/>
              <a:t>需要提交的文件</a:t>
            </a:r>
            <a:endParaRPr lang="zh-CN" altLang="en-US" sz="2000"/>
          </a:p>
          <a:p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320" y="1809115"/>
            <a:ext cx="1990725" cy="38481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大作业设计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遥感数据智能处理与分析系统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7745" y="982980"/>
            <a:ext cx="743331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六、提交要求</a:t>
            </a:r>
            <a:endParaRPr lang="zh-CN" altLang="en-US" sz="2000" b="1"/>
          </a:p>
          <a:p>
            <a:r>
              <a:rPr lang="en-US" altLang="zh-CN" sz="2000"/>
              <a:t>6.2 </a:t>
            </a:r>
            <a:r>
              <a:rPr lang="zh-CN" altLang="en-US" sz="2000"/>
              <a:t>设计文档要求</a:t>
            </a:r>
            <a:endParaRPr lang="zh-CN" altLang="en-US" sz="2000"/>
          </a:p>
          <a:p>
            <a:pPr marL="457200" indent="-457200">
              <a:buAutoNum type="arabicPeriod"/>
            </a:pPr>
            <a:r>
              <a:rPr lang="zh-CN" altLang="en-US" sz="2000"/>
              <a:t>系统架构设计（</a:t>
            </a:r>
            <a:r>
              <a:rPr lang="en-US" altLang="zh-CN" sz="2000"/>
              <a:t>30%</a:t>
            </a:r>
            <a:r>
              <a:rPr lang="zh-CN" altLang="en-US" sz="2000"/>
              <a:t>）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类图（</a:t>
            </a:r>
            <a:r>
              <a:rPr lang="en-US" altLang="zh-CN" sz="2000"/>
              <a:t>UML</a:t>
            </a:r>
            <a:r>
              <a:rPr lang="zh-CN" altLang="en-US" sz="2000"/>
              <a:t>）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模块划分说明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核心算法解释</a:t>
            </a:r>
            <a:endParaRPr lang="zh-CN" altLang="en-US" sz="2000"/>
          </a:p>
          <a:p>
            <a:pPr marL="457200" indent="-457200">
              <a:buAutoNum type="arabicPeriod"/>
            </a:pPr>
            <a:r>
              <a:rPr lang="zh-CN" altLang="en-US" sz="2000"/>
              <a:t>关键代码说明（</a:t>
            </a:r>
            <a:r>
              <a:rPr lang="en-US" altLang="zh-CN" sz="2000"/>
              <a:t>30%</a:t>
            </a:r>
            <a:r>
              <a:rPr lang="zh-CN" altLang="en-US" sz="2000"/>
              <a:t>）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重点实现解释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设计模式应用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难点解决方案</a:t>
            </a:r>
            <a:endParaRPr lang="zh-CN" altLang="en-US" sz="2000"/>
          </a:p>
          <a:p>
            <a:pPr marL="457200" indent="-457200">
              <a:buAutoNum type="arabicPeriod"/>
            </a:pPr>
            <a:r>
              <a:rPr lang="zh-CN" altLang="en-US" sz="2000"/>
              <a:t>测试与运行（</a:t>
            </a:r>
            <a:r>
              <a:rPr lang="en-US" altLang="zh-CN" sz="2000"/>
              <a:t>20%</a:t>
            </a:r>
            <a:r>
              <a:rPr lang="zh-CN" altLang="en-US" sz="2000"/>
              <a:t>）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测试用例说明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运行结果展示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性能分析</a:t>
            </a:r>
            <a:endParaRPr lang="zh-CN" altLang="en-US" sz="2000"/>
          </a:p>
          <a:p>
            <a:pPr marL="457200" indent="-457200">
              <a:buAutoNum type="arabicPeriod"/>
            </a:pPr>
            <a:r>
              <a:rPr lang="zh-CN" altLang="en-US" sz="2000"/>
              <a:t>总结与展望（</a:t>
            </a:r>
            <a:r>
              <a:rPr lang="en-US" altLang="zh-CN" sz="2000"/>
              <a:t>20%</a:t>
            </a:r>
            <a:r>
              <a:rPr lang="zh-CN" altLang="en-US" sz="2000"/>
              <a:t>）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遇到的问题及解决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可扩展性分析</a:t>
            </a:r>
            <a:endParaRPr lang="zh-CN" alt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/>
              <a:t>改进方向</a:t>
            </a:r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大作业设计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遥感数据智能处理与分析系统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7745" y="982980"/>
            <a:ext cx="74333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七、评分标准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745" y="1633220"/>
            <a:ext cx="7191375" cy="48101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3305" y="332740"/>
            <a:ext cx="749744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大作业设计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-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遥感数据智能处理与分析系统</a:t>
            </a: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7745" y="982980"/>
            <a:ext cx="743331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八、注意事项</a:t>
            </a:r>
            <a:endParaRPr lang="zh-CN" altLang="en-US" sz="2000" b="1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1"/>
              <a:t>严禁抄袭：</a:t>
            </a:r>
            <a:r>
              <a:rPr lang="zh-CN" altLang="en-US" sz="2000"/>
              <a:t>发现抄袭按零分处理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1"/>
              <a:t>独立完成：</a:t>
            </a:r>
            <a:r>
              <a:rPr lang="zh-CN" altLang="en-US" sz="2000"/>
              <a:t>可以讨论思路，但代码必须独立编写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1"/>
              <a:t>提交时间：</a:t>
            </a:r>
            <a:r>
              <a:rPr lang="zh-CN" altLang="en-US" sz="2000"/>
              <a:t>严格按照规定时间提交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1"/>
              <a:t>内存管理：</a:t>
            </a:r>
            <a:r>
              <a:rPr lang="zh-CN" altLang="en-US" sz="2000"/>
              <a:t>注意动态内存的分配和释放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1"/>
              <a:t>异常安全：</a:t>
            </a:r>
            <a:r>
              <a:rPr lang="zh-CN" altLang="en-US" sz="2000"/>
              <a:t>关键操作要有异常处理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1"/>
              <a:t>代码风格：</a:t>
            </a:r>
            <a:r>
              <a:rPr lang="zh-CN" altLang="en-US" sz="2000"/>
              <a:t>遵循统一的命名规范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115060" y="4686300"/>
            <a:ext cx="71183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/>
              <a:t>Deadline</a:t>
            </a:r>
            <a:r>
              <a:rPr lang="zh-CN" altLang="en-US" sz="3200" b="1"/>
              <a:t>：</a:t>
            </a:r>
            <a:r>
              <a:rPr lang="en-US" altLang="zh-CN" sz="3200" b="1"/>
              <a:t>2026</a:t>
            </a:r>
            <a:r>
              <a:rPr lang="zh-CN" altLang="en-US" sz="3200" b="1"/>
              <a:t>年</a:t>
            </a:r>
            <a:r>
              <a:rPr lang="en-US" altLang="zh-CN" sz="3200" b="1"/>
              <a:t>5</a:t>
            </a:r>
            <a:r>
              <a:rPr lang="zh-CN" altLang="en-US" sz="3200" b="1"/>
              <a:t>月</a:t>
            </a:r>
            <a:r>
              <a:rPr lang="en-US" altLang="zh-CN" sz="3200" b="1"/>
              <a:t>17</a:t>
            </a:r>
            <a:r>
              <a:rPr lang="zh-CN" altLang="en-US" sz="3200" b="1"/>
              <a:t>日（周日）</a:t>
            </a:r>
            <a:endParaRPr lang="zh-CN" altLang="en-US" sz="32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1124</Words>
  <Application>WPS 演示</Application>
  <PresentationFormat>全屏显示(4:3)</PresentationFormat>
  <Paragraphs>107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Times New Roman</vt:lpstr>
      <vt:lpstr>Wingdings 2</vt:lpstr>
      <vt:lpstr>华文新魏</vt:lpstr>
      <vt:lpstr>华文中宋</vt:lpstr>
      <vt:lpstr>微软雅黑</vt:lpstr>
      <vt:lpstr>Arial Unicode MS</vt:lpstr>
      <vt:lpstr>等线</vt:lpstr>
      <vt:lpstr>隶书</vt:lpstr>
      <vt:lpstr>方正粗倩简体</vt:lpstr>
      <vt:lpstr>Batang</vt:lpstr>
      <vt:lpstr>黑体</vt:lpstr>
      <vt:lpstr>Arial</vt:lpstr>
      <vt:lpstr>Constantia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WHU RSGIS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C++ 面向对象编程教程</dc:title>
  <dc:creator>DuanYanSong</dc:creator>
  <cp:lastModifiedBy>姚剑</cp:lastModifiedBy>
  <cp:revision>201</cp:revision>
  <dcterms:created xsi:type="dcterms:W3CDTF">2013-03-05T11:10:00Z</dcterms:created>
  <dcterms:modified xsi:type="dcterms:W3CDTF">2026-04-09T01:23:19Z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9F8A192A72FB415998EFB21B2FF8B7C0_12</vt:lpwstr>
  </property>
</Properties>
</file>